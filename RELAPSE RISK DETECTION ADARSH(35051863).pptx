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3" r:id="rId6"/>
    <p:sldId id="258" r:id="rId7"/>
    <p:sldId id="259" r:id="rId8"/>
    <p:sldId id="260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3DE37-1BA8-4599-949F-9C8430EED62C}" v="23" dt="2026-04-14T22:19:49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577F-4751-3D5D-285D-F45D86962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89461-D19E-4ED7-93A7-82281CEBC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5AB6-83DF-101B-7ECE-8E8CE481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9F2CD-3E76-7508-7078-72EB881A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2963-9A01-0441-072C-EA8D1A82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82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D1E2-ABEC-D0C3-DB99-7184E087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80351-DF42-B569-230A-137508A00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DCA60-4CA8-3C59-A3F7-07FB1ADA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5671-F71A-7A8F-FBE8-2115B57F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B4CA-5726-F0F3-53E2-4B69906C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6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CD9F-7BC0-FE42-511C-BCF6B89C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C728-1372-7883-6177-6B54303A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86F1-3549-3726-0FC9-3D697523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F970-628F-ED8E-2F74-7A436672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8EF2A-3BC9-127B-FE96-293F44B8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15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4079-B91B-13F4-AA17-0F45B7B3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98DC-AC82-5217-CFBB-54D8E3C5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A5D68-2D8F-9EB6-BACA-7894B2901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E9F0C-6567-406B-1372-C5CA9B7A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9CECD-91FB-DE26-F0AA-46A64B9E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25F6C-0274-FA42-FEA8-FB80CF03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D5C7-2A04-CD00-468B-71DF019BD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55C87-8BC3-3690-2874-12C28EB25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43A9D-1CD5-4054-D3F4-52E41F73F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EBB0B-BAA3-D4BD-D63F-30AFDFED1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80512-8732-9DEF-3C21-1D3C93E33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7193F-1786-395A-3A2B-EF51CE26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AF502-227F-B0B0-2EFB-9523ABCA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AD780-45CD-CC08-404A-8FE78F5D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71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A0FF-AC33-B4F2-7726-5A45BC833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9C5A8-B29D-DB1A-8A61-C4862BD9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3FB35-1BF5-BF46-B575-9AB44499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9CE1B-6D61-DD80-4032-EBD41DE0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29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0F9247-5255-18C9-F8D0-6DAD0286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FA024-83E2-3D35-2A1E-E10D7E5B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8D014-DED9-6193-4DFC-AD7D2035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4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EACD-FDEF-303F-05F5-36A3D349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2E45-7D0C-8814-9ABB-DCCA7D06C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42F1-F9F1-17A8-E533-280BB4045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630DB-68D4-C057-A913-C903B478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5C5E6-B64B-6673-8274-075540DB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E6A5D-B789-D3E6-48F7-560A7BB7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29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70A1-106F-56AC-B418-44D9C5DA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8D475-74C6-3803-E4AF-C31A12398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56C4E-BC67-5E09-54E3-8863EC775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0B829-E8AC-B088-D5FB-4A8870DC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4678E-6536-1D24-BA5C-B8F3A716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B6E4E-B948-E062-F48B-0F78A2E1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0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398A-A020-8BBA-EF9A-7B3DB95D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D6889-07F1-2783-DEB1-48671119D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34AD5-5243-ECA2-3091-D10A3883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D6B8F-C24A-00A5-19F8-BC9FC89A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FC6D6-1FF9-4BE3-A5CA-A48AF013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3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4C70D-473B-6EC6-67D5-C294C1A53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E6B70-1414-A7EA-9992-2DF705931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27B42-0FF9-6069-EDD2-B76C99AB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DD0E3-0FD3-A37F-0F42-CF92363A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EF70-3407-6A0B-677A-B7A48294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38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440D5-2966-33A7-1DBA-7D0DB857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3327-E957-E0CD-3E5B-06643C203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63204-5F22-3B0D-DC63-F2FC67C5D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E8A17-F275-4E4F-8B42-B495948F6E5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39E27-5423-95EA-ACE4-D94F69EC9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46435-AF4E-455A-D2FC-8D79F0677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78CE5-7840-4971-B5C0-E901972CE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06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9633D-3D86-2AFB-03B2-6925BB9DA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9" y="649224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3400" b="1" dirty="0"/>
              <a:t>Early Relapse Risk Detection Using Wearable Physiological Signals in AUD</a:t>
            </a:r>
            <a:br>
              <a:rPr lang="en-US" sz="3400" b="1" dirty="0"/>
            </a:br>
            <a:br>
              <a:rPr lang="en-US" sz="3400" dirty="0"/>
            </a:br>
            <a:endParaRPr lang="en-IN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ABB7-C6B6-D67B-3386-5BBEC56D3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IN"/>
              <a:t>Adarsh </a:t>
            </a:r>
            <a:r>
              <a:rPr lang="en-IN" err="1"/>
              <a:t>Konderu</a:t>
            </a:r>
            <a:endParaRPr lang="en-IN"/>
          </a:p>
          <a:p>
            <a:pPr algn="l"/>
            <a:r>
              <a:rPr lang="en-IN"/>
              <a:t>C5051863</a:t>
            </a:r>
            <a:br>
              <a:rPr lang="en-IN"/>
            </a:br>
            <a:r>
              <a:rPr lang="en-IN"/>
              <a:t>MSc Artificial Intelligence</a:t>
            </a:r>
          </a:p>
        </p:txBody>
      </p:sp>
      <p:sp>
        <p:nvSpPr>
          <p:cNvPr id="4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223B7-7AA2-5DF9-506A-B365F2CF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2092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F19A-4A1A-521D-4F5E-8C5D8D94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372" y="343622"/>
            <a:ext cx="4946904" cy="566013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IN" sz="3600" b="1" dirty="0">
                <a:latin typeface="+mn-lt"/>
              </a:rPr>
              <a:t>Problem &amp; Objective</a:t>
            </a:r>
            <a:br>
              <a:rPr lang="en-US" sz="3600" dirty="0"/>
            </a:br>
            <a:br>
              <a:rPr lang="en-US" sz="3600" dirty="0"/>
            </a:br>
            <a:r>
              <a:rPr lang="en-US" sz="2800" b="1" dirty="0"/>
              <a:t>Problem:</a:t>
            </a:r>
            <a:br>
              <a:rPr lang="en-US" sz="2800" dirty="0"/>
            </a:br>
            <a:r>
              <a:rPr lang="en-US" sz="2800" dirty="0"/>
              <a:t>• Stress is a major trigger for alcohol relapse  </a:t>
            </a:r>
            <a:br>
              <a:rPr lang="en-US" sz="2800" dirty="0"/>
            </a:br>
            <a:r>
              <a:rPr lang="en-US" sz="2800" dirty="0"/>
              <a:t>• Current methods rely on self-reporting  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Objective:</a:t>
            </a:r>
            <a:br>
              <a:rPr lang="en-US" sz="2800" dirty="0"/>
            </a:br>
            <a:r>
              <a:rPr lang="en-US" sz="2800" dirty="0"/>
              <a:t>• Detect stress using wearable signals  </a:t>
            </a:r>
            <a:br>
              <a:rPr lang="en-US" sz="2800" dirty="0"/>
            </a:br>
            <a:r>
              <a:rPr lang="en-US" sz="2800" dirty="0"/>
              <a:t>• Use ML to classify stress vs baseline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04779-AF84-D96F-0B9C-594E5AA74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"/>
          <a:stretch>
            <a:fillRect/>
          </a:stretch>
        </p:blipFill>
        <p:spPr>
          <a:xfrm>
            <a:off x="20" y="10"/>
            <a:ext cx="6709729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0C4553-5AA5-ABAD-A86E-A9DB53A55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4806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314F52-50BF-91A2-1CE5-F6BA35C94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C556E2-7688-DAC5-DDA8-DE5C3BE8E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861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11C1-AC02-4C87-CC16-92AF96B6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128" y="201495"/>
            <a:ext cx="4263991" cy="122304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Dataset &amp; Signals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437C8B-D187-4963-A443-5CEF06C68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626" y="19250"/>
            <a:ext cx="7054618" cy="3530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BA4192-DC40-0F81-FD7B-5F9BBBAB7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368" y="3530626"/>
            <a:ext cx="7298211" cy="3327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D3AD3-BF32-F5DC-9074-00801FC56FED}"/>
              </a:ext>
            </a:extLst>
          </p:cNvPr>
          <p:cNvSpPr txBox="1"/>
          <p:nvPr/>
        </p:nvSpPr>
        <p:spPr>
          <a:xfrm>
            <a:off x="465345" y="1784563"/>
            <a:ext cx="43641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Dataset</a:t>
            </a:r>
            <a:r>
              <a:rPr lang="en-IN" sz="2400" dirty="0"/>
              <a:t>: </a:t>
            </a:r>
          </a:p>
          <a:p>
            <a:r>
              <a:rPr lang="en-IN" sz="2400" dirty="0"/>
              <a:t>WESAD  </a:t>
            </a:r>
          </a:p>
          <a:p>
            <a:endParaRPr lang="en-IN" sz="2400" dirty="0"/>
          </a:p>
          <a:p>
            <a:r>
              <a:rPr lang="en-IN" sz="2400" b="1" dirty="0"/>
              <a:t>Signals:</a:t>
            </a:r>
          </a:p>
          <a:p>
            <a:r>
              <a:rPr lang="en-IN" sz="2400" dirty="0"/>
              <a:t>• EDA  </a:t>
            </a:r>
            <a:r>
              <a:rPr lang="en-IN" sz="2000" dirty="0"/>
              <a:t>(Electrodermal Activity)</a:t>
            </a:r>
          </a:p>
          <a:p>
            <a:r>
              <a:rPr lang="en-IN" sz="2400" dirty="0"/>
              <a:t>• BVP  </a:t>
            </a:r>
            <a:r>
              <a:rPr lang="en-IN" sz="2000" dirty="0"/>
              <a:t>(Blood Volume Pulse)</a:t>
            </a:r>
          </a:p>
          <a:p>
            <a:r>
              <a:rPr lang="en-IN" sz="2400" dirty="0"/>
              <a:t>• Temperature  </a:t>
            </a:r>
          </a:p>
          <a:p>
            <a:endParaRPr lang="en-IN" sz="2400" dirty="0"/>
          </a:p>
          <a:p>
            <a:r>
              <a:rPr lang="en-IN" sz="2400" dirty="0"/>
              <a:t>Participants: 15</a:t>
            </a:r>
          </a:p>
        </p:txBody>
      </p:sp>
    </p:spTree>
    <p:extLst>
      <p:ext uri="{BB962C8B-B14F-4D97-AF65-F5344CB8AC3E}">
        <p14:creationId xmlns:p14="http://schemas.microsoft.com/office/powerpoint/2010/main" val="373429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63B2F-C05F-4DED-126C-436F8A6F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 b="1"/>
              <a:t>Methodology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FE8B-4CD9-1069-392C-BAE057C6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 b="1" dirty="0"/>
              <a:t>Pipeline:</a:t>
            </a:r>
            <a:br>
              <a:rPr lang="en-IN" sz="2200" dirty="0"/>
            </a:br>
            <a:br>
              <a:rPr lang="en-IN" sz="2200" dirty="0"/>
            </a:br>
            <a:r>
              <a:rPr lang="en-IN" sz="2200" dirty="0"/>
              <a:t>Raw Signals </a:t>
            </a:r>
            <a:br>
              <a:rPr lang="en-IN" sz="2200" dirty="0"/>
            </a:br>
            <a:r>
              <a:rPr lang="en-IN" sz="2200" dirty="0"/>
              <a:t>→ Windowing (200 samples ≈ 50 sec) </a:t>
            </a:r>
            <a:br>
              <a:rPr lang="en-IN" sz="2200" dirty="0"/>
            </a:br>
            <a:r>
              <a:rPr lang="en-IN" sz="2200" dirty="0"/>
              <a:t>→ Feature Extraction (mean, std) </a:t>
            </a:r>
            <a:br>
              <a:rPr lang="en-IN" sz="2200" dirty="0"/>
            </a:br>
            <a:r>
              <a:rPr lang="en-IN" sz="2200" dirty="0"/>
              <a:t>→ Random Forest </a:t>
            </a:r>
            <a:br>
              <a:rPr lang="en-IN" sz="2200" dirty="0"/>
            </a:br>
            <a:r>
              <a:rPr lang="en-IN" sz="2200" dirty="0"/>
              <a:t>→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01450-0E10-2C1B-AB4F-149F3365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868680"/>
            <a:ext cx="385804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3FB37-3199-7935-93B2-28FC1335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Data Distribution &amp; Model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9452FC13-00D9-4159-D5A1-918EF8324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Baseline vs Stress samples</a:t>
            </a:r>
          </a:p>
          <a:p>
            <a:r>
              <a:rPr lang="en-IN" sz="2200"/>
              <a:t>Balanced dataset</a:t>
            </a:r>
          </a:p>
          <a:p>
            <a:pPr marL="0" indent="0">
              <a:buNone/>
            </a:pPr>
            <a:endParaRPr lang="en-IN" sz="2200"/>
          </a:p>
          <a:p>
            <a:pPr marL="0" indent="0">
              <a:buNone/>
            </a:pPr>
            <a:r>
              <a:rPr lang="en-IN" sz="2200" b="1"/>
              <a:t>Model:</a:t>
            </a:r>
          </a:p>
          <a:p>
            <a:r>
              <a:rPr lang="en-IN" sz="2200"/>
              <a:t>Random Forest</a:t>
            </a:r>
          </a:p>
          <a:p>
            <a:r>
              <a:rPr lang="en-IN" sz="2200"/>
              <a:t>Handles nonlinear patterns</a:t>
            </a:r>
          </a:p>
          <a:p>
            <a:r>
              <a:rPr lang="en-IN" sz="2200"/>
              <a:t>Reliable 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DF5396-D355-2523-BF3A-DA0B02FD2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292" y="1059834"/>
            <a:ext cx="6256673" cy="49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8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EFBFE-7B1A-418D-0B39-C8FF5F81C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 b="1"/>
              <a:t>Results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A8AEA0-28C8-76F4-7A45-6E7747FD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Accuracy ≈ 87%  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 b="1"/>
              <a:t>Confusion Matrix:</a:t>
            </a:r>
          </a:p>
          <a:p>
            <a:pPr marL="0" indent="0">
              <a:buNone/>
            </a:pPr>
            <a:r>
              <a:rPr lang="en-US" sz="2200"/>
              <a:t>• Correct: 97  </a:t>
            </a:r>
          </a:p>
          <a:p>
            <a:pPr marL="0" indent="0">
              <a:buNone/>
            </a:pPr>
            <a:r>
              <a:rPr lang="en-US" sz="2200"/>
              <a:t>• Incorrect: 14  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Strong stress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165F7-EB0F-72BB-30C7-78724C9A2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105466"/>
            <a:ext cx="5458968" cy="46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6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2CB20-D113-CEEE-8094-9682475B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42" y="640080"/>
            <a:ext cx="3429000" cy="1590496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Findings &amp; AUD Relation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7FB3A-8E62-B5BA-57E8-4FBAF568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 b="1" dirty="0"/>
              <a:t>Findings:</a:t>
            </a:r>
            <a:br>
              <a:rPr lang="en-IN" sz="2200" dirty="0"/>
            </a:br>
            <a:r>
              <a:rPr lang="en-IN" sz="2200" dirty="0"/>
              <a:t>• Signals reflect stress patterns </a:t>
            </a:r>
            <a:br>
              <a:rPr lang="en-IN" sz="2200" dirty="0"/>
            </a:br>
            <a:r>
              <a:rPr lang="en-IN" sz="2200" dirty="0"/>
              <a:t>• Model distinguishes stress vs baseline </a:t>
            </a:r>
            <a:br>
              <a:rPr lang="en-IN" sz="2200" dirty="0"/>
            </a:br>
            <a:br>
              <a:rPr lang="en-IN" sz="2200" dirty="0"/>
            </a:br>
            <a:r>
              <a:rPr lang="en-IN" sz="2200" b="1" dirty="0"/>
              <a:t>AUD Link:</a:t>
            </a:r>
            <a:br>
              <a:rPr lang="en-IN" sz="2200" dirty="0"/>
            </a:br>
            <a:r>
              <a:rPr lang="en-IN" sz="2200" dirty="0"/>
              <a:t>Stress → Relapse trigger </a:t>
            </a:r>
            <a:br>
              <a:rPr lang="en-IN" sz="2200" dirty="0"/>
            </a:br>
            <a:r>
              <a:rPr lang="en-IN" sz="2200" dirty="0"/>
              <a:t>→ Early stress detection helps identify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B2BD2-FB3A-FB9E-BCA1-AB28CBB1B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038587"/>
            <a:ext cx="6903720" cy="47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2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90A52-A424-474D-2EAC-5528728D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 b="1" dirty="0"/>
              <a:t>Reflection &amp; Conclusion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8F9B3-34FD-6DE3-F8D6-29308783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Reflection:</a:t>
            </a:r>
          </a:p>
          <a:p>
            <a:pPr marL="0" indent="0">
              <a:buNone/>
            </a:pPr>
            <a:r>
              <a:rPr lang="en-US" sz="2000" dirty="0"/>
              <a:t>• Accuracy decreased with more data  </a:t>
            </a:r>
          </a:p>
          <a:p>
            <a:r>
              <a:rPr lang="en-US" sz="2000" dirty="0"/>
              <a:t>Results became more realistic  </a:t>
            </a:r>
          </a:p>
          <a:p>
            <a:pPr marL="0" indent="0">
              <a:buNone/>
            </a:pPr>
            <a:r>
              <a:rPr lang="en-US" sz="2000" dirty="0"/>
              <a:t>• Real-world data is complex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Conclusion:</a:t>
            </a:r>
          </a:p>
          <a:p>
            <a:pPr marL="0" indent="0">
              <a:buNone/>
            </a:pPr>
            <a:r>
              <a:rPr lang="en-US" sz="2000" dirty="0"/>
              <a:t>• Stress detection using wearables is possible  </a:t>
            </a:r>
          </a:p>
          <a:p>
            <a:pPr marL="0" indent="0">
              <a:buNone/>
            </a:pPr>
            <a:r>
              <a:rPr lang="en-US" sz="2000" dirty="0"/>
              <a:t>• Model shows strong performance</a:t>
            </a:r>
            <a:endParaRPr lang="en-IN" sz="20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B570DF3-250F-5B13-2B37-976A3F1D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346714" y="640080"/>
            <a:ext cx="496363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4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8546-A907-A727-FA09-88C6227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7C08-5A05-6652-DD22-273004E7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Limitations:</a:t>
            </a:r>
          </a:p>
          <a:p>
            <a:pPr marL="0" indent="0">
              <a:buNone/>
            </a:pPr>
            <a:r>
              <a:rPr lang="en-US" dirty="0"/>
              <a:t>• No direct relapse data (only stress used as indicator)  </a:t>
            </a:r>
          </a:p>
          <a:p>
            <a:pPr marL="0" indent="0">
              <a:buNone/>
            </a:pPr>
            <a:r>
              <a:rPr lang="en-US" dirty="0"/>
              <a:t>• Limited features (mean, standard deviation)  </a:t>
            </a:r>
          </a:p>
          <a:p>
            <a:pPr marL="0" indent="0">
              <a:buNone/>
            </a:pPr>
            <a:r>
              <a:rPr lang="en-US" dirty="0"/>
              <a:t>• Physiological signals may overlap between classes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Future Work:</a:t>
            </a:r>
          </a:p>
          <a:p>
            <a:pPr marL="0" indent="0">
              <a:buNone/>
            </a:pPr>
            <a:r>
              <a:rPr lang="en-US" dirty="0"/>
              <a:t>• Use advanced features and signal processing  </a:t>
            </a:r>
          </a:p>
          <a:p>
            <a:pPr marL="0" indent="0">
              <a:buNone/>
            </a:pPr>
            <a:r>
              <a:rPr lang="en-US" dirty="0"/>
              <a:t>• Apply deep learning models (CNN, LSTM)  </a:t>
            </a:r>
          </a:p>
          <a:p>
            <a:pPr marL="0" indent="0">
              <a:buNone/>
            </a:pPr>
            <a:r>
              <a:rPr lang="en-US" dirty="0"/>
              <a:t>• Use larger and real-world datasets  </a:t>
            </a:r>
          </a:p>
          <a:p>
            <a:pPr marL="0" indent="0">
              <a:buNone/>
            </a:pPr>
            <a:r>
              <a:rPr lang="en-US" dirty="0"/>
              <a:t>• Develop real-time wearable monitoring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23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298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Early Relapse Risk Detection Using Wearable Physiological Signals in AUD  </vt:lpstr>
      <vt:lpstr>Problem &amp; Objective  Problem: • Stress is a major trigger for alcohol relapse   • Current methods rely on self-reporting    Objective: • Detect stress using wearable signals   • Use ML to classify stress vs baseline </vt:lpstr>
      <vt:lpstr>Dataset &amp; Signals</vt:lpstr>
      <vt:lpstr>Methodology</vt:lpstr>
      <vt:lpstr>Data Distribution &amp; Model</vt:lpstr>
      <vt:lpstr>Results</vt:lpstr>
      <vt:lpstr>Findings &amp; AUD Relation</vt:lpstr>
      <vt:lpstr>Reflection &amp; Conclusion</vt:lpstr>
      <vt:lpstr>Limitations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KONDERU</dc:creator>
  <cp:lastModifiedBy>Konderu, Adarsh (Student)</cp:lastModifiedBy>
  <cp:revision>6</cp:revision>
  <dcterms:created xsi:type="dcterms:W3CDTF">2026-04-12T21:42:14Z</dcterms:created>
  <dcterms:modified xsi:type="dcterms:W3CDTF">2026-04-14T22:29:38Z</dcterms:modified>
</cp:coreProperties>
</file>